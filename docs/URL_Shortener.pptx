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6" r:id="rId8"/>
    <p:sldId id="261" r:id="rId9"/>
    <p:sldId id="265" r:id="rId10"/>
    <p:sldId id="267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2622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F0D6A-14D3-F416-A746-140990B8EC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1F6EBB-3487-6EE3-8B00-EAA1EC08AD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7125C-E3C4-8608-4A73-C66842FAD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48FB1-0A80-400C-A9B3-2E370F2DE2F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A7E81-B5EA-6F6D-F99F-A9FC04864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12F81D-4C37-6D95-7A4E-61686EFED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274B1-097F-4AF7-95AD-EA08D56DA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175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B270E-7D91-9F59-A236-2935B6262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1A86A-822D-1B99-681E-51D6554ED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902BE5-7573-4462-E2FE-0D4418AF4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48FB1-0A80-400C-A9B3-2E370F2DE2F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47071-4B18-F270-50CA-9C9B40322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E2DAF-2FB5-1FB5-FB5F-C88884A2E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274B1-097F-4AF7-95AD-EA08D56DA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246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245CA-069B-A9BD-C22D-D0921A5CB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D7796-6110-F094-EDC5-DA73D45BD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A8F61-286F-16A8-B3FD-611A6624C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48FB1-0A80-400C-A9B3-2E370F2DE2F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8214E-DDB5-8BC5-9C6C-B3E0F11FF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0C59D-6471-1579-5DE7-95B27707B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274B1-097F-4AF7-95AD-EA08D56DA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529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AD537-2D2E-8C15-6266-2A8F4A08A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19506-1E41-6BF2-F307-6A44736ACD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0750A-A34E-3077-E1B8-056C578928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D6306-75BA-5043-8D37-10AE358CB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48FB1-0A80-400C-A9B3-2E370F2DE2F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8CB73F-723A-0A9A-0DF0-F5ED821FD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AFC89E-C825-BD57-7954-52C1B5FBC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274B1-097F-4AF7-95AD-EA08D56DA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812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AB155-D009-EF5F-40C0-DDF32FA9F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51C671-8D34-AAEB-F4EC-64FF84199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F4CBE-B4E2-76FD-0EEA-4FEA12E64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430D29-11EB-0DB5-0019-C4B0C44142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7CFE40-7546-01BD-ADC0-78E04FD18F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1B4872-22E4-47AE-2F7C-614B25C5C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48FB1-0A80-400C-A9B3-2E370F2DE2F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B6BFA4-F02B-0E35-B23D-67D95711C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19D2D1-C0B5-2596-A37C-B023B586E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274B1-097F-4AF7-95AD-EA08D56DA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710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2ADD6-64FE-C22A-FCD4-E12BC94B3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587EA7-50DD-D74C-A8E5-F577E4A3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48FB1-0A80-400C-A9B3-2E370F2DE2F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1A0D46-8095-8AB8-4929-3B297EE9C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DED55B-1D1D-07A9-227B-53866BFB6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274B1-097F-4AF7-95AD-EA08D56DA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651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FC9525-1B41-1832-1A60-588F28FF7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48FB1-0A80-400C-A9B3-2E370F2DE2F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6F868C-C089-0BA7-3E15-A315614DF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1C6A07-C012-71CA-5977-B38B0ED08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274B1-097F-4AF7-95AD-EA08D56DA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107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77827-0F3D-F4E5-089B-E9BD17BDB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6199C-6F1D-011F-2558-BBECA9A7C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A05D15-68D3-5A3B-BDD9-D28E8B6484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F85D2F-3251-8BC6-3035-D0DA29A47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48FB1-0A80-400C-A9B3-2E370F2DE2F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36BFF-49A4-B973-DAFE-4EEAF8BEA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B9C074-4605-7687-01EB-52FF654A7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274B1-097F-4AF7-95AD-EA08D56DA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442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6A4A3-A11A-274E-1D86-789DFD3AD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37B1EA-AB06-5D92-E486-1543338E5B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89170E-DDB8-3C15-7D6B-82B9643D9A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A9474C-4201-169E-5FF3-A60F43921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48FB1-0A80-400C-A9B3-2E370F2DE2F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B119B-AEC9-5F79-872F-0FCD7AB51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42572A-2399-5DBB-09A7-192817053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274B1-097F-4AF7-95AD-EA08D56DA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145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D981A-FFD4-42BC-0BA1-B9FB0358A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3BEC4F-1B7E-B7EC-38D1-93744EB644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D50AB-2241-4A08-6DF6-DA2FCBF98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48FB1-0A80-400C-A9B3-2E370F2DE2F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9B225-89DA-F66E-F3DC-CB6813F03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18F4E-D254-6995-B3DD-09E9B1112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274B1-097F-4AF7-95AD-EA08D56DA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020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9B82FE-95D3-D65C-35E9-BCFE594FEE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AFEC70-1E2B-B199-98A8-1D1B651916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0FB5A-5C9B-83A8-08B9-DE9DC0FB8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48FB1-0A80-400C-A9B3-2E370F2DE2F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1E41A-73A6-74F8-8567-2A19BCFCF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2A61C-C182-C831-26A2-89C5D29BC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2274B1-097F-4AF7-95AD-EA08D56DA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872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435718-84D5-7B54-E04C-E7F98733D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D05798-195B-3CCE-C2BC-E7CBC2AB9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ABEF6-20E3-F22A-D86A-89EFB9371F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F48FB1-0A80-400C-A9B3-2E370F2DE2F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0F929-6DAF-3AEB-962C-F9B1ACB832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7FAFF-63A2-D74F-D195-288E69DFCF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2274B1-097F-4AF7-95AD-EA08D56DA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967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vscode-file://vscode-app/c:/Program%20Files/Microsoft%20VS%20Code/resources/app/out/vs/code/electron-browser/workbench/workbench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3D09407-53BC-485E-B4CE-BC5E4FC4B2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1DB988-49FC-4608-B0A2-E2F3A4019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50996F-EC2D-094D-1BA3-280ED347D7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903" y="3200401"/>
            <a:ext cx="10640754" cy="975214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URL Shortener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9B930FD-8671-4C4C-ADCF-73AC1D0CD4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35B12C1-569C-4E37-AA33-7EF215F201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23E2660-7810-46F6-8752-187127C830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991DC45-0378-45B3-B325-FB8F98545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228F5BA-5150-4554-B7EA-93F371F3B1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83C2651-AE0C-4AE4-8725-E2F9414FE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CE13265-B5D2-47B4-A199-E05F390D5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93EBD03-D832-462C-9304-7273698ED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D53D3E2-805E-40D2-964F-352BF6D47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7A9A916-A926-43E6-800F-432ABC3F2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486FEFC-0473-1A99-988C-F3DF0930E968}"/>
              </a:ext>
            </a:extLst>
          </p:cNvPr>
          <p:cNvSpPr txBox="1"/>
          <p:nvPr/>
        </p:nvSpPr>
        <p:spPr>
          <a:xfrm>
            <a:off x="9783862" y="6304003"/>
            <a:ext cx="2314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Tiberiu Gabriel Suditu</a:t>
            </a:r>
          </a:p>
        </p:txBody>
      </p:sp>
    </p:spTree>
    <p:extLst>
      <p:ext uri="{BB962C8B-B14F-4D97-AF65-F5344CB8AC3E}">
        <p14:creationId xmlns:p14="http://schemas.microsoft.com/office/powerpoint/2010/main" val="728721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354B8-F80C-171C-721E-085509443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261423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Project Overview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" name="Content Placeholder 10">
            <a:extLst>
              <a:ext uri="{FF2B5EF4-FFF2-40B4-BE49-F238E27FC236}">
                <a16:creationId xmlns:a16="http://schemas.microsoft.com/office/drawing/2014/main" id="{A84458DB-64DD-B58D-608C-96AFC0510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27419"/>
            <a:ext cx="5126896" cy="3227626"/>
          </a:xfrm>
        </p:spPr>
        <p:txBody>
          <a:bodyPr anchor="ctr">
            <a:normAutofit/>
          </a:bodyPr>
          <a:lstStyle/>
          <a:p>
            <a:r>
              <a:rPr lang="en-US" sz="2000" dirty="0"/>
              <a:t>The URL Shortener is a full-stack web application that allows users to convert long URLs into short, shareable links. </a:t>
            </a:r>
          </a:p>
          <a:p>
            <a:r>
              <a:rPr lang="en-US" sz="2000" dirty="0"/>
              <a:t>Built with a Django backend and a React frontend, the project provides a simple interface for creating and managing short links, ensuring fast redirection and a user-friendly experience.</a:t>
            </a:r>
            <a:br>
              <a:rPr lang="en-US" sz="2000" dirty="0">
                <a:effectLst/>
              </a:rPr>
            </a:br>
            <a:endParaRPr lang="en-US" sz="2000" dirty="0">
              <a:solidFill>
                <a:schemeClr val="tx2"/>
              </a:solidFill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AB79B4C-88B2-F6BC-22A8-E614DC0F0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227" y="3187239"/>
            <a:ext cx="5989267" cy="257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560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631820-A953-9A9F-BF3B-DE6751F70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261423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Functional Requirements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B7FAF2-D37E-F807-A601-3E9058BCE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317" y="2776958"/>
            <a:ext cx="5126896" cy="3467742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Users can submit a long URL and receive a unique, shortened link.</a:t>
            </a:r>
          </a:p>
          <a:p>
            <a:r>
              <a:rPr lang="en-US" sz="1800" dirty="0">
                <a:solidFill>
                  <a:schemeClr val="tx2"/>
                </a:solidFill>
              </a:rPr>
              <a:t>Accessing a short link redirects the user to the original long URL.</a:t>
            </a:r>
          </a:p>
          <a:p>
            <a:r>
              <a:rPr lang="en-US" sz="1800" dirty="0">
                <a:solidFill>
                  <a:schemeClr val="tx2"/>
                </a:solidFill>
              </a:rPr>
              <a:t>The application provides a simple web interface for URL input and result display.</a:t>
            </a:r>
          </a:p>
          <a:p>
            <a:r>
              <a:rPr lang="en-US" sz="1800" dirty="0">
                <a:solidFill>
                  <a:schemeClr val="tx2"/>
                </a:solidFill>
              </a:rPr>
              <a:t>A REST API endpoint is available for programmatic URL shortening.</a:t>
            </a:r>
          </a:p>
          <a:p>
            <a:r>
              <a:rPr lang="en-US" sz="1800" dirty="0">
                <a:solidFill>
                  <a:schemeClr val="tx2"/>
                </a:solidFill>
              </a:rPr>
              <a:t>The system validates URLs and handles invalid input gracefully.</a:t>
            </a:r>
          </a:p>
          <a:p>
            <a:endParaRPr lang="en-US" sz="1800" dirty="0">
              <a:solidFill>
                <a:schemeClr val="tx2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08477B34-6D98-9184-F189-D12DFF7BD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8" y="3173297"/>
            <a:ext cx="4954693" cy="254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550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0C8A09-D314-00B5-C116-98FB0B26D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261423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</a:rPr>
              <a:t>Non-Functional Requirements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BCB89-C833-B43F-42E2-B24ACB992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2988807"/>
            <a:ext cx="8735949" cy="3227626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The application must provide fast redirection, with minimal latency for users.</a:t>
            </a:r>
          </a:p>
          <a:p>
            <a:r>
              <a:rPr lang="en-US" sz="1800" dirty="0">
                <a:solidFill>
                  <a:schemeClr val="tx2"/>
                </a:solidFill>
              </a:rPr>
              <a:t>Error handling should be robust, ensuring clear feedback for invalid or broken links.</a:t>
            </a:r>
          </a:p>
          <a:p>
            <a:r>
              <a:rPr lang="en-US" sz="1800" dirty="0">
                <a:solidFill>
                  <a:schemeClr val="tx2"/>
                </a:solidFill>
              </a:rPr>
              <a:t>Code quality must follow best practices and PEP8 standards.</a:t>
            </a:r>
          </a:p>
          <a:p>
            <a:r>
              <a:rPr lang="en-US" sz="1800" dirty="0">
                <a:solidFill>
                  <a:schemeClr val="tx2"/>
                </a:solidFill>
              </a:rPr>
              <a:t>Automated tests and continuous integration should be in place to maintain reliability.</a:t>
            </a:r>
          </a:p>
          <a:p>
            <a:r>
              <a:rPr lang="en-US" sz="1800" dirty="0">
                <a:solidFill>
                  <a:schemeClr val="tx2"/>
                </a:solidFill>
              </a:rPr>
              <a:t>The user interface should be intuitive and responsive across devices.</a:t>
            </a:r>
          </a:p>
          <a:p>
            <a:endParaRPr lang="en-US" sz="1800" dirty="0">
              <a:solidFill>
                <a:schemeClr val="tx2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45938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A4D314-CA2A-AB2D-CF53-DCDFBF26F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261423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</a:rPr>
              <a:t>Technology Stack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5DE81-E96C-A600-2F00-C29646BFF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27418"/>
            <a:ext cx="7786878" cy="3459081"/>
          </a:xfrm>
        </p:spPr>
        <p:txBody>
          <a:bodyPr anchor="ctr">
            <a:normAutofit/>
          </a:bodyPr>
          <a:lstStyle/>
          <a:p>
            <a:r>
              <a:rPr lang="en-US" sz="1800" b="1" dirty="0">
                <a:solidFill>
                  <a:schemeClr val="tx2"/>
                </a:solidFill>
              </a:rPr>
              <a:t>Backend:</a:t>
            </a:r>
            <a:r>
              <a:rPr lang="en-US" sz="1800" dirty="0">
                <a:solidFill>
                  <a:schemeClr val="tx2"/>
                </a:solidFill>
              </a:rPr>
              <a:t> Django (Python) for API development and URL management</a:t>
            </a:r>
          </a:p>
          <a:p>
            <a:r>
              <a:rPr lang="en-US" sz="1800" b="1" dirty="0">
                <a:solidFill>
                  <a:schemeClr val="tx2"/>
                </a:solidFill>
              </a:rPr>
              <a:t>Frontend:</a:t>
            </a:r>
            <a:r>
              <a:rPr lang="en-US" sz="1800" dirty="0">
                <a:solidFill>
                  <a:schemeClr val="tx2"/>
                </a:solidFill>
              </a:rPr>
              <a:t> React (JavaScript) for a dynamic and responsive user interface</a:t>
            </a:r>
          </a:p>
          <a:p>
            <a:r>
              <a:rPr lang="en-US" sz="1800" b="1" dirty="0">
                <a:solidFill>
                  <a:schemeClr val="tx2"/>
                </a:solidFill>
              </a:rPr>
              <a:t>Package Managers</a:t>
            </a:r>
            <a:r>
              <a:rPr lang="en-US" sz="1800" dirty="0">
                <a:solidFill>
                  <a:schemeClr val="tx2"/>
                </a:solidFill>
              </a:rPr>
              <a:t>: Pip with requirements.txt for backend, </a:t>
            </a:r>
            <a:r>
              <a:rPr lang="en-US" sz="1800" dirty="0" err="1">
                <a:solidFill>
                  <a:schemeClr val="tx2"/>
                </a:solidFill>
              </a:rPr>
              <a:t>npm</a:t>
            </a:r>
            <a:r>
              <a:rPr lang="en-US" sz="1800" dirty="0">
                <a:solidFill>
                  <a:schemeClr val="tx2"/>
                </a:solidFill>
              </a:rPr>
              <a:t> with </a:t>
            </a:r>
            <a:r>
              <a:rPr lang="en-US" sz="1800" dirty="0" err="1">
                <a:solidFill>
                  <a:schemeClr val="tx2"/>
                </a:solidFill>
              </a:rPr>
              <a:t>package.json</a:t>
            </a:r>
            <a:r>
              <a:rPr lang="en-US" sz="1800" dirty="0">
                <a:solidFill>
                  <a:schemeClr val="tx2"/>
                </a:solidFill>
              </a:rPr>
              <a:t> and package-</a:t>
            </a:r>
            <a:r>
              <a:rPr lang="en-US" sz="1800" dirty="0" err="1">
                <a:solidFill>
                  <a:schemeClr val="tx2"/>
                </a:solidFill>
              </a:rPr>
              <a:t>lock.json</a:t>
            </a:r>
            <a:r>
              <a:rPr lang="en-US" sz="1800" dirty="0">
                <a:solidFill>
                  <a:schemeClr val="tx2"/>
                </a:solidFill>
              </a:rPr>
              <a:t> for frontend</a:t>
            </a:r>
          </a:p>
          <a:p>
            <a:r>
              <a:rPr lang="en-US" sz="1800" b="1" dirty="0">
                <a:solidFill>
                  <a:schemeClr val="tx2"/>
                </a:solidFill>
              </a:rPr>
              <a:t>Database:</a:t>
            </a:r>
            <a:r>
              <a:rPr lang="en-US" sz="1800" dirty="0">
                <a:solidFill>
                  <a:schemeClr val="tx2"/>
                </a:solidFill>
              </a:rPr>
              <a:t> SQLite for lightweight data storage</a:t>
            </a:r>
          </a:p>
          <a:p>
            <a:r>
              <a:rPr lang="en-US" sz="1800" b="1" dirty="0">
                <a:solidFill>
                  <a:schemeClr val="tx2"/>
                </a:solidFill>
              </a:rPr>
              <a:t>Testing:</a:t>
            </a:r>
            <a:r>
              <a:rPr lang="en-US" sz="1800" dirty="0">
                <a:solidFill>
                  <a:schemeClr val="tx2"/>
                </a:solidFill>
              </a:rPr>
              <a:t> </a:t>
            </a:r>
            <a:r>
              <a:rPr lang="en-US" sz="1800" dirty="0" err="1">
                <a:solidFill>
                  <a:schemeClr val="tx2"/>
                </a:solidFill>
              </a:rPr>
              <a:t>Pytest</a:t>
            </a:r>
            <a:r>
              <a:rPr lang="en-US" sz="1800" dirty="0">
                <a:solidFill>
                  <a:schemeClr val="tx2"/>
                </a:solidFill>
              </a:rPr>
              <a:t> for backend, Jest for frontend</a:t>
            </a:r>
          </a:p>
          <a:p>
            <a:r>
              <a:rPr lang="en-US" sz="1800" b="1" dirty="0">
                <a:solidFill>
                  <a:schemeClr val="tx2"/>
                </a:solidFill>
              </a:rPr>
              <a:t>CI/CD:</a:t>
            </a:r>
            <a:r>
              <a:rPr lang="en-US" sz="1800" dirty="0">
                <a:solidFill>
                  <a:schemeClr val="tx2"/>
                </a:solidFill>
              </a:rPr>
              <a:t> GitHub Actions for automated testing and deployment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16619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856063-A0C4-40C8-9210-3FAAB7863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4C4D66-36B4-A0EC-D711-6CDDCDD30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43623C-B57C-16CA-C2CE-23DF247481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6199F0-C1A3-0022-0D3D-166AFFF849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903" y="3200401"/>
            <a:ext cx="10640754" cy="975214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Live Demo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74902D1-E52A-6C0C-D585-0AA491750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0243244-DCDC-5285-80FB-B3015D11D3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FA989C0-A65F-E4EE-1702-ACFE563FD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C247026-2051-AAC4-46FE-EA2C1D34AE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3A0B19D-6E6F-DA2C-9596-E3C3432E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D7EA712-19F4-5A5D-CAE2-872366945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391D152-5CFD-1B87-FC5F-6973C08E2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1704D10-1F6D-7A18-7D44-0B041A636D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AA83651-47D6-2302-F97C-F7C668ECC5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7B9AACD-EB23-273F-B834-430EEA4EDE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79971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1209DE-E6E3-754F-07CB-8918A96CA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A9EA79F-C17A-8EA1-727D-AFE17AEB9E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793AD4-5FEB-38DC-846F-BB7E7C2496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758EAE-7A62-23A4-BDD5-990ED08D5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261423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en-US" sz="3600" dirty="0"/>
              <a:t>Project Structure &amp; Key Directories</a:t>
            </a:r>
            <a:endParaRPr lang="en-US" sz="3600" dirty="0">
              <a:solidFill>
                <a:schemeClr val="tx2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27BCC95-0B8E-71EB-9134-5B4490CAA9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FB0DE57-D1C0-DDA8-AF49-6600A0C77B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ABCB680-ACE5-F6A7-BE9B-AECCF0DA02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E40E5D3-0465-C8C5-E9F6-889350A39C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4AF0D0F-1403-9F7A-3F75-F575067B7B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415E7-7DC8-3625-9089-86170F219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713703"/>
            <a:ext cx="8447484" cy="3794065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1600" dirty="0"/>
              <a:t>The project is organized for clear separation of backend, frontend, and documentation.</a:t>
            </a:r>
          </a:p>
          <a:p>
            <a:r>
              <a:rPr lang="en-US" sz="1600" b="1" dirty="0"/>
              <a:t>backend/</a:t>
            </a:r>
            <a:r>
              <a:rPr lang="en-US" sz="1600" dirty="0"/>
              <a:t>: Django project and app for API, URL logic, and database models.</a:t>
            </a:r>
          </a:p>
          <a:p>
            <a:pPr lvl="1"/>
            <a:r>
              <a:rPr lang="en-US" sz="1600" dirty="0"/>
              <a:t>manage.py: Django management script</a:t>
            </a:r>
          </a:p>
          <a:p>
            <a:pPr lvl="1"/>
            <a:r>
              <a:rPr lang="en-US" sz="1600" dirty="0"/>
              <a:t>backend/settings.py: Project configuration</a:t>
            </a:r>
          </a:p>
          <a:p>
            <a:pPr lvl="1"/>
            <a:r>
              <a:rPr lang="en-US" sz="1600" dirty="0"/>
              <a:t>shortener/: URL shortening logic and views</a:t>
            </a:r>
          </a:p>
          <a:p>
            <a:r>
              <a:rPr lang="en-US" sz="1600" b="1" dirty="0"/>
              <a:t>frontend/</a:t>
            </a:r>
            <a:r>
              <a:rPr lang="en-US" sz="1600" dirty="0"/>
              <a:t>: React application for the user interface.</a:t>
            </a:r>
          </a:p>
          <a:p>
            <a:pPr lvl="1"/>
            <a:r>
              <a:rPr lang="en-US" sz="1600" dirty="0" err="1"/>
              <a:t>src</a:t>
            </a:r>
            <a:r>
              <a:rPr lang="en-US" sz="1600" dirty="0"/>
              <a:t>/: Main React source code and components</a:t>
            </a:r>
          </a:p>
          <a:p>
            <a:pPr lvl="1"/>
            <a:r>
              <a:rPr lang="en-US" sz="1600" dirty="0"/>
              <a:t>public/: Static files and HTML template</a:t>
            </a:r>
          </a:p>
          <a:p>
            <a:r>
              <a:rPr lang="en-US" sz="1600" b="1" dirty="0"/>
              <a:t>docs/</a:t>
            </a:r>
            <a:r>
              <a:rPr lang="en-US" sz="1600" dirty="0"/>
              <a:t>: Project documentation and requirements.</a:t>
            </a:r>
          </a:p>
          <a:p>
            <a:r>
              <a:rPr lang="en-US" sz="1600" b="1" dirty="0"/>
              <a:t>.</a:t>
            </a:r>
            <a:r>
              <a:rPr lang="en-US" sz="1600" b="1" dirty="0" err="1"/>
              <a:t>github</a:t>
            </a:r>
            <a:r>
              <a:rPr lang="en-US" sz="1600" b="1" dirty="0"/>
              <a:t>/workflows/</a:t>
            </a:r>
            <a:r>
              <a:rPr lang="en-US" sz="1600" dirty="0"/>
              <a:t>: CI/CD pipeline configuration (GitHub Actions)</a:t>
            </a:r>
          </a:p>
          <a:p>
            <a:r>
              <a:rPr lang="en-US" sz="1600" dirty="0">
                <a:hlinkClick r:id="rId2"/>
              </a:rPr>
              <a:t>requirements.txt</a:t>
            </a:r>
            <a:r>
              <a:rPr lang="en-US" sz="1600" dirty="0"/>
              <a:t>: Python dependencies</a:t>
            </a:r>
          </a:p>
          <a:p>
            <a:r>
              <a:rPr lang="en-US" sz="1600" dirty="0">
                <a:hlinkClick r:id="rId2"/>
              </a:rPr>
              <a:t>README.md</a:t>
            </a:r>
            <a:r>
              <a:rPr lang="en-US" sz="1600" dirty="0"/>
              <a:t>: Project overview and setup instructions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3D49110-BCDF-1D51-15AC-7758B4A9A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6D5F45C-1198-2167-2684-98D5E5CEDB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1CC3ADB-8621-68A5-A3BE-983DAE5DFE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8AE3C59-C93F-FF85-6E51-6C9A1C0550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67B2A53-83BC-63AA-2733-18DEA9D937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04397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034458-10A3-6890-C3A4-DD91F85B9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261423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Architecture Diagram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B2AE6-FDC2-5186-B227-C7C22BB2A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27419"/>
            <a:ext cx="5126896" cy="3227626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The user interacts with the React frontend, which provides a simple interface for submitting and receiving URLs.</a:t>
            </a:r>
          </a:p>
          <a:p>
            <a:r>
              <a:rPr lang="en-US" sz="1800" dirty="0">
                <a:solidFill>
                  <a:schemeClr val="tx2"/>
                </a:solidFill>
              </a:rPr>
              <a:t>The frontend communicates with the Django backend via REST API calls.</a:t>
            </a:r>
          </a:p>
          <a:p>
            <a:r>
              <a:rPr lang="en-US" sz="1800" dirty="0">
                <a:solidFill>
                  <a:schemeClr val="tx2"/>
                </a:solidFill>
              </a:rPr>
              <a:t>The backend processes requests, generates short links, and stores data in the SQLite database.</a:t>
            </a:r>
          </a:p>
          <a:p>
            <a:r>
              <a:rPr lang="en-US" sz="1800" dirty="0">
                <a:solidFill>
                  <a:schemeClr val="tx2"/>
                </a:solidFill>
              </a:rPr>
              <a:t>When a short link is accessed, the backend retrieves the original URL and redirects the user accordingly.</a:t>
            </a:r>
          </a:p>
          <a:p>
            <a:endParaRPr lang="en-US" sz="1800" dirty="0">
              <a:solidFill>
                <a:schemeClr val="tx2"/>
              </a:solidFill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5A970FC-DB27-C8C4-ADB4-B31CB1C3F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1038" y="3619501"/>
            <a:ext cx="5483033" cy="904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681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E54523-8FD2-3EA1-5897-294D8524E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699BEA-B66A-9EDC-AB95-7D9B8591D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576" y="1261423"/>
            <a:ext cx="9829800" cy="1325880"/>
          </a:xfrm>
        </p:spPr>
        <p:txBody>
          <a:bodyPr anchor="b"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Continuous Integration &amp; Deployment (CI/CD) with GitHub Actions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22940-D2BF-D99E-C570-FE7EB056C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827419"/>
            <a:ext cx="5126896" cy="3227626"/>
          </a:xfrm>
        </p:spPr>
        <p:txBody>
          <a:bodyPr anchor="ctr">
            <a:normAutofit/>
          </a:bodyPr>
          <a:lstStyle/>
          <a:p>
            <a:r>
              <a:rPr lang="en-US" sz="1700">
                <a:solidFill>
                  <a:schemeClr val="tx2"/>
                </a:solidFill>
              </a:rPr>
              <a:t>Automated workflows run on every push and pull request to the repository.</a:t>
            </a:r>
          </a:p>
          <a:p>
            <a:r>
              <a:rPr lang="en-US" sz="1700">
                <a:solidFill>
                  <a:schemeClr val="tx2"/>
                </a:solidFill>
              </a:rPr>
              <a:t>The pipeline installs dependencies, runs backend and frontend tests, and checks code quality.</a:t>
            </a:r>
          </a:p>
          <a:p>
            <a:r>
              <a:rPr lang="en-US" sz="1700">
                <a:solidFill>
                  <a:schemeClr val="tx2"/>
                </a:solidFill>
              </a:rPr>
              <a:t>Ensures that only passing, well-tested code is merged into the main branch.</a:t>
            </a:r>
          </a:p>
          <a:p>
            <a:r>
              <a:rPr lang="en-US" sz="1700">
                <a:solidFill>
                  <a:schemeClr val="tx2"/>
                </a:solidFill>
              </a:rPr>
              <a:t>Provides fast feedback to developers and maintains project reliability.</a:t>
            </a:r>
          </a:p>
          <a:p>
            <a:r>
              <a:rPr lang="en-US" sz="1700">
                <a:solidFill>
                  <a:schemeClr val="tx2"/>
                </a:solidFill>
              </a:rPr>
              <a:t>Easily extensible for deployment or additional quality checks.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2862195-E385-5BB0-53D5-31B842FFF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6653" y="2837712"/>
            <a:ext cx="5554942" cy="3610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421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D654E6-DEC4-223E-BF97-B4AC927B6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134808-0EA2-DBF2-49C5-B3A62A4AF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200" y="245041"/>
            <a:ext cx="9829800" cy="655257"/>
          </a:xfrm>
        </p:spPr>
        <p:txBody>
          <a:bodyPr anchor="b">
            <a:norm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Protecting the main Branch (GitHub Ruleset)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1"/>
            <a:ext cx="3362070" cy="2522849"/>
            <a:chOff x="-305" y="-1"/>
            <a:chExt cx="3832880" cy="2876136"/>
          </a:xfrm>
        </p:grpSpPr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51B46-4812-6306-4FFD-2A51C5502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991" y="1693420"/>
            <a:ext cx="5513465" cy="5074592"/>
          </a:xfrm>
        </p:spPr>
        <p:txBody>
          <a:bodyPr anchor="ctr">
            <a:noAutofit/>
          </a:bodyPr>
          <a:lstStyle/>
          <a:p>
            <a:r>
              <a:rPr lang="en-US" sz="1400" dirty="0">
                <a:solidFill>
                  <a:schemeClr val="tx2"/>
                </a:solidFill>
              </a:rPr>
              <a:t>The main branch is protected to ensure safe, stable, and professional development.</a:t>
            </a:r>
          </a:p>
          <a:p>
            <a:r>
              <a:rPr lang="en-US" sz="1400" b="1" dirty="0">
                <a:solidFill>
                  <a:schemeClr val="tx2"/>
                </a:solidFill>
              </a:rPr>
              <a:t>Why protect main?</a:t>
            </a:r>
            <a:endParaRPr lang="en-US" sz="1400" dirty="0">
              <a:solidFill>
                <a:schemeClr val="tx2"/>
              </a:solidFill>
            </a:endParaRP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Prevents accidental pushes and force-pushes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Avoids history rewriting and branch deletion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Forces all changes to go through Pull Requests (PRs)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Maintains project stability and code quality</a:t>
            </a:r>
          </a:p>
          <a:p>
            <a:r>
              <a:rPr lang="en-US" sz="1400" b="1" dirty="0">
                <a:solidFill>
                  <a:schemeClr val="tx2"/>
                </a:solidFill>
              </a:rPr>
              <a:t>Applied Rules:</a:t>
            </a:r>
            <a:endParaRPr lang="en-US" sz="1400" dirty="0">
              <a:solidFill>
                <a:schemeClr val="tx2"/>
              </a:solidFill>
            </a:endParaRP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No direct pushes to main (restrict updates)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Main branch cannot be deleted (restrict deletions)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Force pushes are blocked (no history rewriting)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Pull request required before merging (enables code review)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(Optional) Require linear history for clean commit structure</a:t>
            </a:r>
          </a:p>
          <a:p>
            <a:r>
              <a:rPr lang="en-US" sz="1400" b="1" dirty="0">
                <a:solidFill>
                  <a:schemeClr val="tx2"/>
                </a:solidFill>
              </a:rPr>
              <a:t>Result:</a:t>
            </a:r>
            <a:endParaRPr lang="en-US" sz="1400" dirty="0">
              <a:solidFill>
                <a:schemeClr val="tx2"/>
              </a:solidFill>
            </a:endParaRP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All changes are reviewed and tested before merging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CI/CD can enforce tests and checks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The codebase remains secure, clean, and stable</a:t>
            </a:r>
          </a:p>
          <a:p>
            <a:pPr lvl="1"/>
            <a:r>
              <a:rPr lang="en-US" sz="1400" dirty="0">
                <a:solidFill>
                  <a:schemeClr val="tx2"/>
                </a:solidFill>
              </a:rPr>
              <a:t>Accidental mistakes are avoided, following industry best practices</a:t>
            </a: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10185732" y="4852038"/>
            <a:ext cx="2151670" cy="1860256"/>
            <a:chOff x="-305" y="-4155"/>
            <a:chExt cx="2514948" cy="2174333"/>
          </a:xfrm>
        </p:grpSpPr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93F1C08-B83F-3AEE-950A-CE351BEB2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9931" y="1578669"/>
            <a:ext cx="5616316" cy="3425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945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A03828-B51D-713E-8B1D-CF7387944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E7DAA-7849-AE4E-035C-588DB6615F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94E324-3522-72F5-3DDC-1B6543CCB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4DE1FB-2ECB-E7D0-13D3-0959B3248E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903" y="3200401"/>
            <a:ext cx="10640754" cy="975214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Q&amp;A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8D8EEAA-775C-8543-6D9B-F59EB38E44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FC8EF94-8C53-B1C9-420D-33F9D26A0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8B20ADB-D71E-BA38-E780-E5E3252F1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1B71471-0546-C865-3534-DE81F85B85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17573C0-EA49-8830-1947-F14C5CA5CC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2D50039-35BC-58DB-F8A3-DC2840693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6B0E25C-E003-9989-65C4-D96BA17BD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5BDF747-78B1-00FB-64B6-4D4C45BA4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DA1CB9E-4FDD-11F2-5B67-9311AED1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093FFCE-BECF-0EEA-191A-B21C8C1097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35477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BA0034-A1B2-F6E6-4124-45ECDB3EA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8C73B79-2FA4-1BFA-B699-6CF7A291D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CA1FF1-EFAD-DA05-60C3-C18DB18E4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0F3410-68D0-89BB-D651-A89090289E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903" y="3200401"/>
            <a:ext cx="10640754" cy="975214"/>
          </a:xfrm>
        </p:spPr>
        <p:txBody>
          <a:bodyPr anchor="b"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Thank you!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07BABB4-C381-58B0-2FB5-853CA9966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0"/>
            <a:ext cx="2514948" cy="2174333"/>
            <a:chOff x="-305" y="-4155"/>
            <a:chExt cx="2514948" cy="217433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438BF4D-0CDC-1F5D-959A-F4C7C59F4C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ACE3922-78EA-EA70-A82B-22AEDEC35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278C6E1-36F0-20FC-C48F-48BF13AECC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1B35AF3-9ACC-1A1A-6895-2071B0FBD9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0506C79-F22A-E930-CDA9-872BCC62C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-305" y="4322879"/>
            <a:ext cx="3378428" cy="2535121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F575572-5D8C-F4A0-B9AC-775B69F15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4364502-3CF5-C3BD-83D1-A7A038962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524F75E-A14E-F082-7EDF-A8C689DD5B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7A58EAD-6B0E-8FE6-5A86-6E7CCFF73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24653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URL_SHORTENER</Template>
  <TotalTime>319</TotalTime>
  <Words>674</Words>
  <Application>Microsoft Office PowerPoint</Application>
  <PresentationFormat>Widescreen</PresentationFormat>
  <Paragraphs>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URL Shortener</vt:lpstr>
      <vt:lpstr>Project Overview</vt:lpstr>
      <vt:lpstr>Functional Requirements</vt:lpstr>
      <vt:lpstr>Non-Functional Requirements</vt:lpstr>
      <vt:lpstr>Technology Stack</vt:lpstr>
      <vt:lpstr>Live Demo</vt:lpstr>
      <vt:lpstr>Project Structure &amp; Key Directories</vt:lpstr>
      <vt:lpstr>Architecture Diagram</vt:lpstr>
      <vt:lpstr>Continuous Integration &amp; Deployment (CI/CD) with GitHub Actions</vt:lpstr>
      <vt:lpstr>Protecting the main Branch (GitHub Ruleset)</vt:lpstr>
      <vt:lpstr>Q&amp;A</vt:lpstr>
      <vt:lpstr>Thank you!</vt:lpstr>
    </vt:vector>
  </TitlesOfParts>
  <Company>Endava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Tiberiu Gabriel Suditu</dc:creator>
  <cp:lastModifiedBy>Tiberiu Gabriel Suditu</cp:lastModifiedBy>
  <cp:revision>23</cp:revision>
  <dcterms:created xsi:type="dcterms:W3CDTF">2025-12-02T09:19:29Z</dcterms:created>
  <dcterms:modified xsi:type="dcterms:W3CDTF">2025-12-02T14:48:25Z</dcterms:modified>
</cp:coreProperties>
</file>